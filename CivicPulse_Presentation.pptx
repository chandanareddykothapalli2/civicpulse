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132740"/>
          </a:solidFill>
          <a:ln>
            <a:solidFill>
              <a:srgbClr val="1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063240" y="411480"/>
            <a:ext cx="1051560" cy="1051560"/>
          </a:xfrm>
          <a:prstGeom prst="ellipse">
            <a:avLst/>
          </a:prstGeom>
          <a:solidFill>
            <a:srgbClr val="1B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651760" y="5303520"/>
            <a:ext cx="1554480" cy="1554480"/>
          </a:xfrm>
          <a:prstGeom prst="ellipse">
            <a:avLst/>
          </a:prstGeom>
          <a:solidFill>
            <a:srgbClr val="1D4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337560" y="6080760"/>
            <a:ext cx="502920" cy="502920"/>
          </a:xfrm>
          <a:prstGeom prst="ellipse">
            <a:avLst/>
          </a:prstGeom>
          <a:solidFill>
            <a:srgbClr val="1B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25603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CIVIC</a:t>
            </a:r>
            <a:br/>
            <a:r>
              <a:t>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71800"/>
            <a:ext cx="2560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D5E8EF"/>
                </a:solidFill>
                <a:latin typeface="Aptos"/>
              </a:defRPr>
            </a:pPr>
            <a:r>
              <a:t>SMART CIVIC ISSUE</a:t>
            </a:r>
            <a:br/>
            <a:r>
              <a:t>REPORTING &amp;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0624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A digital bridge between citizens</a:t>
            </a:r>
            <a:br/>
            <a:r>
              <a:t>and civic authorities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676656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>
                <a:solidFill>
                  <a:srgbClr val="132740"/>
                </a:solidFill>
                <a:latin typeface="Aptos"/>
              </a:defRPr>
            </a:pPr>
            <a:r>
              <a:t>Making civic complaints</a:t>
            </a:r>
            <a:br/>
            <a:r>
              <a:t>visible, trackable &amp; actionable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3310128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5B6F80"/>
                </a:solidFill>
                <a:latin typeface="Aptos"/>
              </a:defRPr>
            </a:pPr>
            <a:r>
              <a:t>Report an issue  →  Track progress  →  Drive resolution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4572000"/>
            <a:ext cx="1920240" cy="868680"/>
          </a:xfrm>
          <a:prstGeom prst="roundRect">
            <a:avLst/>
          </a:prstGeom>
          <a:solidFill>
            <a:srgbClr val="E0F3F1"/>
          </a:solidFill>
          <a:ln>
            <a:solidFill>
              <a:srgbClr val="E0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4690872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32740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4572000"/>
            <a:ext cx="1920240" cy="868680"/>
          </a:xfrm>
          <a:prstGeom prst="roundRect">
            <a:avLst/>
          </a:prstGeom>
          <a:solidFill>
            <a:srgbClr val="E5EEF7"/>
          </a:solidFill>
          <a:ln>
            <a:solidFill>
              <a:srgbClr val="E5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4690872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32740"/>
                </a:solidFill>
                <a:latin typeface="Aptos"/>
              </a:defRPr>
            </a:pPr>
            <a:r>
              <a:t>MANAGE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4572000"/>
            <a:ext cx="1920240" cy="868680"/>
          </a:xfrm>
          <a:prstGeom prst="roundRect">
            <a:avLst/>
          </a:prstGeom>
          <a:solidFill>
            <a:srgbClr val="FAF4DA"/>
          </a:solidFill>
          <a:ln>
            <a:solidFill>
              <a:srgbClr val="FAF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4690872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32740"/>
                </a:solidFill>
                <a:latin typeface="Aptos"/>
              </a:defRPr>
            </a:pPr>
            <a:r>
              <a:t>RESOLVE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5715000"/>
            <a:ext cx="5943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B6F80"/>
                </a:solidFill>
                <a:latin typeface="Aptos"/>
              </a:defRPr>
            </a:pPr>
            <a:r>
              <a:t>Spring Boot  •  MySQL  •  Thymeleaf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556248"/>
            <a:ext cx="10881360" cy="13716"/>
          </a:xfrm>
          <a:prstGeom prst="rect">
            <a:avLst/>
          </a:prstGeom>
          <a:solidFill>
            <a:srgbClr val="DCE4E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6567398"/>
            <a:ext cx="594360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B6F80"/>
                </a:solidFill>
                <a:latin typeface="Aptos"/>
              </a:defRPr>
            </a:pPr>
            <a:r>
              <a:rPr dirty="0"/>
              <a:t>CIVICPULSE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65392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B6F8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9C91"/>
                </a:solidFill>
                <a:latin typeface="Aptos"/>
              </a:defRPr>
            </a:pPr>
            <a:r>
              <a:t>01  | 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740"/>
                </a:solidFill>
                <a:latin typeface="Aptos"/>
              </a:defRPr>
            </a:pPr>
            <a:r>
              <a:t>Why CivicPulse?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5B6F80"/>
                </a:solidFill>
                <a:latin typeface="Aptos"/>
              </a:defRPr>
            </a:pPr>
            <a:r>
              <a:t>Civic issues are easy to notice — but often difficult to report, track and close.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5166360" cy="1508760"/>
          </a:xfrm>
          <a:prstGeom prst="roundRect">
            <a:avLst/>
          </a:prstGeom>
          <a:solidFill>
            <a:srgbClr val="F1F7F8"/>
          </a:solidFill>
          <a:ln>
            <a:solidFill>
              <a:srgbClr val="F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2402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B9C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2221992"/>
            <a:ext cx="3886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32740"/>
                </a:solidFill>
                <a:latin typeface="Aptos"/>
              </a:defRPr>
            </a:pPr>
            <a:r>
              <a:t>SCATTERED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651760"/>
            <a:ext cx="3886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B6F80"/>
                </a:solidFill>
                <a:latin typeface="Aptos"/>
              </a:defRPr>
            </a:pPr>
            <a:r>
              <a:t>Complaints may be raised through informal or disconnected channels.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2057400"/>
            <a:ext cx="5166360" cy="1508760"/>
          </a:xfrm>
          <a:prstGeom prst="roundRect">
            <a:avLst/>
          </a:prstGeom>
          <a:solidFill>
            <a:srgbClr val="F1F7F8"/>
          </a:solidFill>
          <a:ln>
            <a:solidFill>
              <a:srgbClr val="F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22402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B9C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2221992"/>
            <a:ext cx="3886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32740"/>
                </a:solidFill>
                <a:latin typeface="Aptos"/>
              </a:defRPr>
            </a:pPr>
            <a:r>
              <a:t>LOW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651760"/>
            <a:ext cx="3886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B6F80"/>
                </a:solidFill>
                <a:latin typeface="Aptos"/>
              </a:defRPr>
            </a:pPr>
            <a:r>
              <a:t>Citizens often cannot clearly see what happens after submission.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31920"/>
            <a:ext cx="5166360" cy="1508760"/>
          </a:xfrm>
          <a:prstGeom prst="roundRect">
            <a:avLst/>
          </a:prstGeom>
          <a:solidFill>
            <a:srgbClr val="F1F7F8"/>
          </a:solidFill>
          <a:ln>
            <a:solidFill>
              <a:srgbClr val="F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411480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B9C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4096511"/>
            <a:ext cx="3886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32740"/>
                </a:solidFill>
                <a:latin typeface="Aptos"/>
              </a:defRPr>
            </a:pPr>
            <a:r>
              <a:t>SLOW 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4526280"/>
            <a:ext cx="3886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B6F80"/>
                </a:solidFill>
                <a:latin typeface="Aptos"/>
              </a:defRPr>
            </a:pPr>
            <a:r>
              <a:t>Manual handling can make assignment and status updates harder.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931920"/>
            <a:ext cx="5166360" cy="1508760"/>
          </a:xfrm>
          <a:prstGeom prst="roundRect">
            <a:avLst/>
          </a:prstGeom>
          <a:solidFill>
            <a:srgbClr val="F1F7F8"/>
          </a:solidFill>
          <a:ln>
            <a:solidFill>
              <a:srgbClr val="F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411480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B9C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4096511"/>
            <a:ext cx="3886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32740"/>
                </a:solidFill>
                <a:latin typeface="Aptos"/>
              </a:defRPr>
            </a:pPr>
            <a:r>
              <a:t>LIMITED ACCOUNTABILITY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4526280"/>
            <a:ext cx="3886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B6F80"/>
                </a:solidFill>
                <a:latin typeface="Aptos"/>
              </a:defRPr>
            </a:pPr>
            <a:r>
              <a:t>Without a central record, progress and resolution are difficult to monitor.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833872"/>
            <a:ext cx="10927080" cy="502920"/>
          </a:xfrm>
          <a:prstGeom prst="roundRect">
            <a:avLst/>
          </a:prstGeom>
          <a:solidFill>
            <a:srgbClr val="132740"/>
          </a:solidFill>
          <a:ln>
            <a:solidFill>
              <a:srgbClr val="1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916168"/>
            <a:ext cx="10515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CivicPulse brings the entire complaint journey into one structured platform.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556248"/>
            <a:ext cx="10881360" cy="13716"/>
          </a:xfrm>
          <a:prstGeom prst="rect">
            <a:avLst/>
          </a:prstGeom>
          <a:solidFill>
            <a:srgbClr val="DCE4E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567398"/>
            <a:ext cx="594360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B6F80"/>
                </a:solidFill>
                <a:latin typeface="Aptos"/>
              </a:defRPr>
            </a:pPr>
            <a:r>
              <a:rPr dirty="0"/>
              <a:t>CIVICPULSE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565392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B6F80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9C91"/>
                </a:solidFill>
                <a:latin typeface="Aptos"/>
              </a:defRPr>
            </a:pPr>
            <a:r>
              <a:t>02  | 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740"/>
                </a:solidFill>
                <a:latin typeface="Aptos"/>
              </a:defRPr>
            </a:pPr>
            <a:r>
              <a:t>One platform. One clear journey.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132740"/>
          </a:solidFill>
          <a:ln>
            <a:solidFill>
              <a:srgbClr val="1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19072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BEDCE8"/>
                </a:solidFill>
                <a:latin typeface="Aptos"/>
              </a:defRPr>
            </a:pPr>
            <a:r>
              <a:t>CITIZEN</a:t>
            </a:r>
          </a:p>
        </p:txBody>
      </p:sp>
      <p:sp>
        <p:nvSpPr>
          <p:cNvPr id="6" name="Oval 5"/>
          <p:cNvSpPr/>
          <p:nvPr/>
        </p:nvSpPr>
        <p:spPr>
          <a:xfrm>
            <a:off x="1051560" y="2331720"/>
            <a:ext cx="530352" cy="530352"/>
          </a:xfrm>
          <a:prstGeom prst="ellipse">
            <a:avLst/>
          </a:prstGeom>
          <a:solidFill>
            <a:srgbClr val="1B9C91"/>
          </a:solidFill>
          <a:ln>
            <a:solidFill>
              <a:srgbClr val="1B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340863"/>
            <a:ext cx="53035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350008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8448" y="2898648"/>
            <a:ext cx="36576" cy="438912"/>
          </a:xfrm>
          <a:prstGeom prst="rect">
            <a:avLst/>
          </a:prstGeom>
          <a:solidFill>
            <a:srgbClr val="1B9C91"/>
          </a:solidFill>
          <a:ln>
            <a:solidFill>
              <a:srgbClr val="1B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1560" y="3355848"/>
            <a:ext cx="530352" cy="530352"/>
          </a:xfrm>
          <a:prstGeom prst="ellipse">
            <a:avLst/>
          </a:prstGeom>
          <a:solidFill>
            <a:srgbClr val="1B9C91"/>
          </a:solidFill>
          <a:ln>
            <a:solidFill>
              <a:srgbClr val="1B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364991"/>
            <a:ext cx="53035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74136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REPORT ISSUE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8448" y="3922776"/>
            <a:ext cx="36576" cy="438912"/>
          </a:xfrm>
          <a:prstGeom prst="rect">
            <a:avLst/>
          </a:prstGeom>
          <a:solidFill>
            <a:srgbClr val="1B9C91"/>
          </a:solidFill>
          <a:ln>
            <a:solidFill>
              <a:srgbClr val="1B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51560" y="4379976"/>
            <a:ext cx="530352" cy="530352"/>
          </a:xfrm>
          <a:prstGeom prst="ellipse">
            <a:avLst/>
          </a:prstGeom>
          <a:solidFill>
            <a:srgbClr val="1B9C91"/>
          </a:solidFill>
          <a:ln>
            <a:solidFill>
              <a:srgbClr val="1B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389120"/>
            <a:ext cx="53035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398264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TRACK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440680"/>
            <a:ext cx="3063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EDCE8"/>
                </a:solidFill>
                <a:latin typeface="Aptos"/>
              </a:defRPr>
            </a:pPr>
            <a:r>
              <a:t>Simple citizen experience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481328"/>
            <a:ext cx="31546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10328" y="1691640"/>
            <a:ext cx="530352" cy="530352"/>
          </a:xfrm>
          <a:prstGeom prst="ellipse">
            <a:avLst/>
          </a:prstGeom>
          <a:solidFill>
            <a:srgbClr val="1B9C91"/>
          </a:solidFill>
          <a:ln>
            <a:solidFill>
              <a:srgbClr val="1B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10328" y="1700784"/>
            <a:ext cx="53035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0408" y="1682496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32740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2231136"/>
            <a:ext cx="26974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B6F80"/>
                </a:solidFill>
                <a:latin typeface="Aptos"/>
              </a:defRPr>
            </a:pPr>
            <a:r>
              <a:t>Submit civic problems with description, category, location and photos.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481328"/>
            <a:ext cx="31546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39328" y="1691640"/>
            <a:ext cx="530352" cy="530352"/>
          </a:xfrm>
          <a:prstGeom prst="ellipse">
            <a:avLst/>
          </a:prstGeom>
          <a:solidFill>
            <a:srgbClr val="1B9C91"/>
          </a:solidFill>
          <a:ln>
            <a:solidFill>
              <a:srgbClr val="1B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8" y="1700784"/>
            <a:ext cx="53035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1682496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32740"/>
                </a:solidFill>
                <a:latin typeface="Aptos"/>
              </a:defRPr>
            </a:pPr>
            <a:r>
              <a:t>MANAGE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2231136"/>
            <a:ext cx="26974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B6F80"/>
                </a:solidFill>
                <a:latin typeface="Aptos"/>
              </a:defRPr>
            </a:pPr>
            <a:r>
              <a:t>Admins review complaints, organize records and process issues.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3630168"/>
            <a:ext cx="31546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910328" y="3840480"/>
            <a:ext cx="530352" cy="530352"/>
          </a:xfrm>
          <a:prstGeom prst="ellipse">
            <a:avLst/>
          </a:prstGeom>
          <a:solidFill>
            <a:srgbClr val="1B9C91"/>
          </a:solidFill>
          <a:ln>
            <a:solidFill>
              <a:srgbClr val="1B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10328" y="3849624"/>
            <a:ext cx="53035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0408" y="3831336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32740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4379976"/>
            <a:ext cx="26974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B6F80"/>
                </a:solidFill>
                <a:latin typeface="Aptos"/>
              </a:defRPr>
            </a:pPr>
            <a:r>
              <a:t>Complaint status moves from submission through processing to resolution.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630168"/>
            <a:ext cx="31546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339328" y="3840480"/>
            <a:ext cx="530352" cy="530352"/>
          </a:xfrm>
          <a:prstGeom prst="ellipse">
            <a:avLst/>
          </a:prstGeom>
          <a:solidFill>
            <a:srgbClr val="1B9C91"/>
          </a:solidFill>
          <a:ln>
            <a:solidFill>
              <a:srgbClr val="1B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39328" y="3849624"/>
            <a:ext cx="53035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9408" y="3831336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32740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8" y="4379976"/>
            <a:ext cx="26974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B6F80"/>
                </a:solidFill>
                <a:latin typeface="Aptos"/>
              </a:defRPr>
            </a:pPr>
            <a:r>
              <a:t>Creates a transparent communication channel between citizens and authorities.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36592" y="574243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9C91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5687568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32740"/>
                </a:solidFill>
                <a:latin typeface="Aptos"/>
              </a:defRPr>
            </a:pPr>
            <a:r>
              <a:t>Make every complaint traceable from report to resolution.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6556248"/>
            <a:ext cx="10881360" cy="13716"/>
          </a:xfrm>
          <a:prstGeom prst="rect">
            <a:avLst/>
          </a:prstGeom>
          <a:solidFill>
            <a:srgbClr val="DCE4E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" y="6567398"/>
            <a:ext cx="594360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B6F80"/>
                </a:solidFill>
                <a:latin typeface="Aptos"/>
              </a:defRPr>
            </a:pPr>
            <a:r>
              <a:rPr dirty="0"/>
              <a:t>CIVICPULSE 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60" y="6565392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B6F80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9C91"/>
                </a:solidFill>
                <a:latin typeface="Aptos"/>
              </a:defRPr>
            </a:pPr>
            <a:r>
              <a:t>03  |  SYSTEM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740"/>
                </a:solidFill>
                <a:latin typeface="Aptos"/>
              </a:defRPr>
            </a:pPr>
            <a:r>
              <a:t>From complaint to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424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5B6F80"/>
                </a:solidFill>
                <a:latin typeface="Aptos"/>
              </a:defRPr>
            </a:pPr>
            <a:r>
              <a:t>A simple workflow keeps every issue moving through a visible lifecycle.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600200" cy="1325880"/>
          </a:xfrm>
          <a:prstGeom prst="roundRect">
            <a:avLst/>
          </a:prstGeom>
          <a:solidFill>
            <a:srgbClr val="F1F7F8"/>
          </a:solidFill>
          <a:ln>
            <a:solidFill>
              <a:srgbClr val="F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239572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9C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325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32740"/>
                </a:solidFill>
                <a:latin typeface="Aptos"/>
              </a:defRPr>
            </a:pPr>
            <a:r>
              <a:rPr dirty="0"/>
              <a:t>CITIZEN</a:t>
            </a:r>
            <a:br>
              <a:rPr dirty="0"/>
            </a:br>
            <a:r>
              <a:rPr dirty="0"/>
              <a:t>LOGIN</a:t>
            </a:r>
          </a:p>
        </p:txBody>
      </p:sp>
      <p:sp>
        <p:nvSpPr>
          <p:cNvPr id="8" name="Chevron 7"/>
          <p:cNvSpPr/>
          <p:nvPr/>
        </p:nvSpPr>
        <p:spPr>
          <a:xfrm>
            <a:off x="2139696" y="2651760"/>
            <a:ext cx="256032" cy="411480"/>
          </a:xfrm>
          <a:prstGeom prst="chevron">
            <a:avLst/>
          </a:prstGeom>
          <a:solidFill>
            <a:srgbClr val="1B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404872" y="2240280"/>
            <a:ext cx="1600200" cy="1325880"/>
          </a:xfrm>
          <a:prstGeom prst="roundRect">
            <a:avLst/>
          </a:prstGeom>
          <a:solidFill>
            <a:srgbClr val="E0F3F1"/>
          </a:solidFill>
          <a:ln>
            <a:solidFill>
              <a:srgbClr val="E0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600" y="239572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9C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697480"/>
            <a:ext cx="1325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32740"/>
                </a:solidFill>
                <a:latin typeface="Aptos"/>
              </a:defRPr>
            </a:pPr>
            <a:r>
              <a:t>SUBMIT</a:t>
            </a:r>
            <a:br/>
            <a:r>
              <a:t>COMPLAINT</a:t>
            </a:r>
          </a:p>
        </p:txBody>
      </p:sp>
      <p:sp>
        <p:nvSpPr>
          <p:cNvPr id="12" name="Chevron 11"/>
          <p:cNvSpPr/>
          <p:nvPr/>
        </p:nvSpPr>
        <p:spPr>
          <a:xfrm>
            <a:off x="4041648" y="2651760"/>
            <a:ext cx="256032" cy="411480"/>
          </a:xfrm>
          <a:prstGeom prst="chevron">
            <a:avLst/>
          </a:prstGeom>
          <a:solidFill>
            <a:srgbClr val="1B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06824" y="2240280"/>
            <a:ext cx="1600200" cy="1325880"/>
          </a:xfrm>
          <a:prstGeom prst="roundRect">
            <a:avLst/>
          </a:prstGeom>
          <a:solidFill>
            <a:srgbClr val="F1F7F8"/>
          </a:solidFill>
          <a:ln>
            <a:solidFill>
              <a:srgbClr val="F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16552" y="239572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9C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697480"/>
            <a:ext cx="1325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32740"/>
                </a:solidFill>
                <a:latin typeface="Aptos"/>
              </a:defRPr>
            </a:pPr>
            <a:r>
              <a:t>ADMIN</a:t>
            </a:r>
            <a:br/>
            <a:r>
              <a:t>REVIEWS</a:t>
            </a:r>
          </a:p>
        </p:txBody>
      </p:sp>
      <p:sp>
        <p:nvSpPr>
          <p:cNvPr id="16" name="Chevron 15"/>
          <p:cNvSpPr/>
          <p:nvPr/>
        </p:nvSpPr>
        <p:spPr>
          <a:xfrm>
            <a:off x="5943600" y="2651760"/>
            <a:ext cx="256032" cy="411480"/>
          </a:xfrm>
          <a:prstGeom prst="chevron">
            <a:avLst/>
          </a:prstGeom>
          <a:solidFill>
            <a:srgbClr val="1B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08776" y="2240280"/>
            <a:ext cx="1600200" cy="1325880"/>
          </a:xfrm>
          <a:prstGeom prst="roundRect">
            <a:avLst/>
          </a:prstGeom>
          <a:solidFill>
            <a:srgbClr val="E0F3F1"/>
          </a:solidFill>
          <a:ln>
            <a:solidFill>
              <a:srgbClr val="E0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18504" y="239572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9C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697480"/>
            <a:ext cx="1325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32740"/>
                </a:solidFill>
                <a:latin typeface="Aptos"/>
              </a:defRPr>
            </a:pPr>
            <a:r>
              <a:t>PROCESS /</a:t>
            </a:r>
            <a:br/>
            <a:r>
              <a:t>ASSIGN</a:t>
            </a:r>
          </a:p>
        </p:txBody>
      </p:sp>
      <p:sp>
        <p:nvSpPr>
          <p:cNvPr id="20" name="Chevron 19"/>
          <p:cNvSpPr/>
          <p:nvPr/>
        </p:nvSpPr>
        <p:spPr>
          <a:xfrm>
            <a:off x="7845552" y="2651760"/>
            <a:ext cx="256032" cy="411480"/>
          </a:xfrm>
          <a:prstGeom prst="chevron">
            <a:avLst/>
          </a:prstGeom>
          <a:solidFill>
            <a:srgbClr val="1B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10727" y="2240280"/>
            <a:ext cx="1600200" cy="1325880"/>
          </a:xfrm>
          <a:prstGeom prst="roundRect">
            <a:avLst/>
          </a:prstGeom>
          <a:solidFill>
            <a:srgbClr val="F1F7F8"/>
          </a:solidFill>
          <a:ln>
            <a:solidFill>
              <a:srgbClr val="F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0455" y="239572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9C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697480"/>
            <a:ext cx="1325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32740"/>
                </a:solidFill>
                <a:latin typeface="Aptos"/>
              </a:defRPr>
            </a:pPr>
            <a:r>
              <a:t>STATUS</a:t>
            </a:r>
            <a:br/>
            <a:r>
              <a:t>UPDATE</a:t>
            </a:r>
          </a:p>
        </p:txBody>
      </p:sp>
      <p:sp>
        <p:nvSpPr>
          <p:cNvPr id="24" name="Chevron 23"/>
          <p:cNvSpPr/>
          <p:nvPr/>
        </p:nvSpPr>
        <p:spPr>
          <a:xfrm>
            <a:off x="9747504" y="2651760"/>
            <a:ext cx="256032" cy="411480"/>
          </a:xfrm>
          <a:prstGeom prst="chevron">
            <a:avLst/>
          </a:prstGeom>
          <a:solidFill>
            <a:srgbClr val="1B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012680" y="2240280"/>
            <a:ext cx="1600200" cy="1325880"/>
          </a:xfrm>
          <a:prstGeom prst="roundRect">
            <a:avLst/>
          </a:prstGeom>
          <a:solidFill>
            <a:srgbClr val="E0F3F1"/>
          </a:solidFill>
          <a:ln>
            <a:solidFill>
              <a:srgbClr val="E0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22407" y="239572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9C9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697480"/>
            <a:ext cx="1325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32740"/>
                </a:solidFill>
                <a:latin typeface="Aptos"/>
              </a:defRPr>
            </a:pPr>
            <a:r>
              <a:t>RESOLVED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160520"/>
            <a:ext cx="5257800" cy="1188720"/>
          </a:xfrm>
          <a:prstGeom prst="roundRect">
            <a:avLst/>
          </a:prstGeom>
          <a:solidFill>
            <a:srgbClr val="132740"/>
          </a:solidFill>
          <a:ln>
            <a:solidFill>
              <a:srgbClr val="1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370832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BEDCE8"/>
                </a:solidFill>
                <a:latin typeface="Aptos"/>
              </a:defRPr>
            </a:pPr>
            <a:r>
              <a:t>CITIZEN SIDE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773168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Login  •  Report  •  View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160520"/>
            <a:ext cx="5321808" cy="1188720"/>
          </a:xfrm>
          <a:prstGeom prst="roundRect">
            <a:avLst/>
          </a:prstGeom>
          <a:solidFill>
            <a:srgbClr val="E0F3F1"/>
          </a:solidFill>
          <a:ln>
            <a:solidFill>
              <a:srgbClr val="E0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73952" y="4370832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B9C91"/>
                </a:solidFill>
                <a:latin typeface="Aptos"/>
              </a:defRPr>
            </a:pPr>
            <a:r>
              <a:t>ADMIN SIDE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477316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32740"/>
                </a:solidFill>
                <a:latin typeface="Aptos"/>
              </a:defRPr>
            </a:pPr>
            <a:r>
              <a:t>Review  •  Manage  •  Update  •  Resolve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7" y="5733731"/>
            <a:ext cx="1190097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9C91"/>
                </a:solidFill>
                <a:latin typeface="Aptos"/>
              </a:defRPr>
            </a:pPr>
            <a:r>
              <a:rPr dirty="0"/>
              <a:t>TECHNOLOG</a:t>
            </a:r>
            <a:r>
              <a:rPr lang="en-US" dirty="0"/>
              <a:t>Y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2139696" y="5719682"/>
            <a:ext cx="74615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F2B36"/>
                </a:solidFill>
                <a:latin typeface="Aptos"/>
              </a:defRPr>
            </a:pPr>
            <a:r>
              <a:rPr dirty="0"/>
              <a:t>Spring Boot  |  Java  |  MySQL  |  </a:t>
            </a:r>
            <a:r>
              <a:rPr dirty="0" err="1"/>
              <a:t>Thymeleaf</a:t>
            </a:r>
            <a:r>
              <a:rPr dirty="0"/>
              <a:t>  |  HTML/CSS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556248"/>
            <a:ext cx="10881360" cy="13716"/>
          </a:xfrm>
          <a:prstGeom prst="rect">
            <a:avLst/>
          </a:prstGeom>
          <a:solidFill>
            <a:srgbClr val="DCE4E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" y="6567398"/>
            <a:ext cx="594360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B6F80"/>
                </a:solidFill>
                <a:latin typeface="Aptos"/>
              </a:defRPr>
            </a:pPr>
            <a:r>
              <a:rPr dirty="0"/>
              <a:t>CIVICPULSE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565392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B6F80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9C91"/>
                </a:solidFill>
                <a:latin typeface="Aptos"/>
              </a:defRPr>
            </a:pPr>
            <a:r>
              <a:t>04  | 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740"/>
                </a:solidFill>
                <a:latin typeface="Aptos"/>
              </a:defRPr>
            </a:pPr>
            <a:r>
              <a:t>Key features &amp;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3401568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6968" y="1709928"/>
            <a:ext cx="530352" cy="530352"/>
          </a:xfrm>
          <a:prstGeom prst="ellipse">
            <a:avLst/>
          </a:prstGeom>
          <a:solidFill>
            <a:srgbClr val="1B9C91"/>
          </a:solidFill>
          <a:ln>
            <a:solidFill>
              <a:srgbClr val="1B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719072"/>
            <a:ext cx="53035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91640"/>
            <a:ext cx="2240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32740"/>
                </a:solidFill>
                <a:latin typeface="Aptos"/>
              </a:defRPr>
            </a:pPr>
            <a:r>
              <a:t>USER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04288"/>
            <a:ext cx="2788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B6F80"/>
                </a:solidFill>
                <a:latin typeface="Aptos"/>
              </a:defRPr>
            </a:pPr>
            <a:r>
              <a:t>Registration and secure login for users.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481328"/>
            <a:ext cx="3401568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90288" y="1709928"/>
            <a:ext cx="530352" cy="530352"/>
          </a:xfrm>
          <a:prstGeom prst="ellipse">
            <a:avLst/>
          </a:prstGeom>
          <a:solidFill>
            <a:srgbClr val="1B9C91"/>
          </a:solidFill>
          <a:ln>
            <a:solidFill>
              <a:srgbClr val="1B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719072"/>
            <a:ext cx="53035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691640"/>
            <a:ext cx="2240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32740"/>
                </a:solidFill>
                <a:latin typeface="Aptos"/>
              </a:defRPr>
            </a:pPr>
            <a:r>
              <a:t>COMPLAINT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04288"/>
            <a:ext cx="2788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B6F80"/>
                </a:solidFill>
                <a:latin typeface="Aptos"/>
              </a:defRPr>
            </a:pPr>
            <a:r>
              <a:t>Create, view and manage civic complaints.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481328"/>
            <a:ext cx="3401568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93608" y="1709928"/>
            <a:ext cx="530352" cy="530352"/>
          </a:xfrm>
          <a:prstGeom prst="ellipse">
            <a:avLst/>
          </a:prstGeom>
          <a:solidFill>
            <a:srgbClr val="1B9C91"/>
          </a:solidFill>
          <a:ln>
            <a:solidFill>
              <a:srgbClr val="1B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719072"/>
            <a:ext cx="53035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691640"/>
            <a:ext cx="2240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32740"/>
                </a:solidFill>
                <a:latin typeface="Aptos"/>
              </a:defRPr>
            </a:pPr>
            <a:r>
              <a:t>ISSUE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304288"/>
            <a:ext cx="2788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B6F80"/>
                </a:solidFill>
                <a:latin typeface="Aptos"/>
              </a:defRPr>
            </a:pPr>
            <a:r>
              <a:t>Capture category, description, location and photos.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30168"/>
            <a:ext cx="3401568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6968" y="3858768"/>
            <a:ext cx="530352" cy="530352"/>
          </a:xfrm>
          <a:prstGeom prst="ellipse">
            <a:avLst/>
          </a:prstGeom>
          <a:solidFill>
            <a:srgbClr val="1B9C91"/>
          </a:solidFill>
          <a:ln>
            <a:solidFill>
              <a:srgbClr val="1B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867912"/>
            <a:ext cx="53035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840480"/>
            <a:ext cx="2240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32740"/>
                </a:solidFill>
                <a:latin typeface="Aptos"/>
              </a:defRPr>
            </a:pPr>
            <a:r>
              <a:t>STATUS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453128"/>
            <a:ext cx="2788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B6F80"/>
                </a:solidFill>
                <a:latin typeface="Aptos"/>
              </a:defRPr>
            </a:pPr>
            <a:r>
              <a:t>Follow complaint progress until resolution.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630168"/>
            <a:ext cx="3401568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90288" y="3858768"/>
            <a:ext cx="530352" cy="530352"/>
          </a:xfrm>
          <a:prstGeom prst="ellipse">
            <a:avLst/>
          </a:prstGeom>
          <a:solidFill>
            <a:srgbClr val="1B9C91"/>
          </a:solidFill>
          <a:ln>
            <a:solidFill>
              <a:srgbClr val="1B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0288" y="3867912"/>
            <a:ext cx="53035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3840480"/>
            <a:ext cx="2240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32740"/>
                </a:solidFill>
                <a:latin typeface="Aptos"/>
              </a:defRPr>
            </a:pPr>
            <a:r>
              <a:t>ADMIN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453128"/>
            <a:ext cx="2788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B6F80"/>
                </a:solidFill>
                <a:latin typeface="Aptos"/>
              </a:defRPr>
            </a:pPr>
            <a:r>
              <a:t>Review complaints and manage their lifecycle.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5008" y="3630168"/>
            <a:ext cx="3401568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93608" y="3858768"/>
            <a:ext cx="530352" cy="530352"/>
          </a:xfrm>
          <a:prstGeom prst="ellipse">
            <a:avLst/>
          </a:prstGeom>
          <a:solidFill>
            <a:srgbClr val="1B9C91"/>
          </a:solidFill>
          <a:ln>
            <a:solidFill>
              <a:srgbClr val="1B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93608" y="3867912"/>
            <a:ext cx="53035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840480"/>
            <a:ext cx="2240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32740"/>
                </a:solidFill>
                <a:latin typeface="Aptos"/>
              </a:defRPr>
            </a:pPr>
            <a:r>
              <a:t>MYSQL DATABASE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4453128"/>
            <a:ext cx="2788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B6F80"/>
                </a:solidFill>
                <a:latin typeface="Aptos"/>
              </a:defRPr>
            </a:pPr>
            <a:r>
              <a:t>Persist users, complaints and related records.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879592"/>
            <a:ext cx="10927080" cy="457200"/>
          </a:xfrm>
          <a:prstGeom prst="roundRect">
            <a:avLst/>
          </a:prstGeom>
          <a:solidFill>
            <a:srgbClr val="132740"/>
          </a:solidFill>
          <a:ln>
            <a:solidFill>
              <a:srgbClr val="1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934456"/>
            <a:ext cx="10424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Designed for usability  •  traceability  •  centralized management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556248"/>
            <a:ext cx="10881360" cy="13716"/>
          </a:xfrm>
          <a:prstGeom prst="rect">
            <a:avLst/>
          </a:prstGeom>
          <a:solidFill>
            <a:srgbClr val="DCE4E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" y="6567398"/>
            <a:ext cx="594360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B6F80"/>
                </a:solidFill>
                <a:latin typeface="Aptos"/>
              </a:defRPr>
            </a:pPr>
            <a:r>
              <a:rPr dirty="0"/>
              <a:t>CIVICPULSE 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565392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B6F80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9C91"/>
                </a:solidFill>
                <a:latin typeface="Aptos"/>
              </a:defRPr>
            </a:pPr>
            <a:r>
              <a:t>05  | 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740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4709160" cy="4526280"/>
          </a:xfrm>
          <a:prstGeom prst="roundRect">
            <a:avLst/>
          </a:prstGeom>
          <a:solidFill>
            <a:srgbClr val="132740"/>
          </a:solidFill>
          <a:ln>
            <a:solidFill>
              <a:srgbClr val="1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069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BEDCE8"/>
                </a:solidFill>
                <a:latin typeface="Aptos"/>
              </a:defRPr>
            </a:pPr>
            <a:r>
              <a:t>THE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39319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A clearer civic</a:t>
            </a:r>
            <a:br/>
            <a:r>
              <a:t>complaint journey.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03320"/>
            <a:ext cx="38404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DCE9EF"/>
                </a:solidFill>
                <a:latin typeface="Aptos"/>
              </a:defRPr>
            </a:pPr>
            <a:r>
              <a:t>CivicPulse helps turn scattered complaints into structured, trackable cases — giving citizens visibility and administrators a central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50876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B9C91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9" name="Oval 8"/>
          <p:cNvSpPr/>
          <p:nvPr/>
        </p:nvSpPr>
        <p:spPr>
          <a:xfrm>
            <a:off x="5806440" y="2011680"/>
            <a:ext cx="530352" cy="530352"/>
          </a:xfrm>
          <a:prstGeom prst="ellipse">
            <a:avLst/>
          </a:prstGeom>
          <a:solidFill>
            <a:srgbClr val="1B9C91"/>
          </a:solidFill>
          <a:ln>
            <a:solidFill>
              <a:srgbClr val="1B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06440" y="2020824"/>
            <a:ext cx="53035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029968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32740"/>
                </a:solidFill>
                <a:latin typeface="Aptos"/>
              </a:defRPr>
            </a:pPr>
            <a:r>
              <a:t>Mobile app + push notifications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5806440" y="2724912"/>
            <a:ext cx="530352" cy="530352"/>
          </a:xfrm>
          <a:prstGeom prst="ellipse">
            <a:avLst/>
          </a:prstGeom>
          <a:solidFill>
            <a:srgbClr val="1B9C91"/>
          </a:solidFill>
          <a:ln>
            <a:solidFill>
              <a:srgbClr val="1B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06440" y="2734056"/>
            <a:ext cx="53035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74320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32740"/>
                </a:solidFill>
                <a:latin typeface="Aptos"/>
              </a:defRPr>
            </a:pPr>
            <a:r>
              <a:t>AI-based complaint categorization</a:t>
            </a:r>
          </a:p>
        </p:txBody>
      </p:sp>
      <p:sp>
        <p:nvSpPr>
          <p:cNvPr id="15" name="Oval 14"/>
          <p:cNvSpPr/>
          <p:nvPr/>
        </p:nvSpPr>
        <p:spPr>
          <a:xfrm>
            <a:off x="5806440" y="3438144"/>
            <a:ext cx="530352" cy="530352"/>
          </a:xfrm>
          <a:prstGeom prst="ellipse">
            <a:avLst/>
          </a:prstGeom>
          <a:solidFill>
            <a:srgbClr val="1B9C91"/>
          </a:solidFill>
          <a:ln>
            <a:solidFill>
              <a:srgbClr val="1B9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3447288"/>
            <a:ext cx="53035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456432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32740"/>
                </a:solidFill>
                <a:latin typeface="Aptos"/>
              </a:defRPr>
            </a:pPr>
            <a:r>
              <a:t>Priority detection for urgent issues</a:t>
            </a:r>
          </a:p>
        </p:txBody>
      </p:sp>
      <p:sp>
        <p:nvSpPr>
          <p:cNvPr id="18" name="Oval 17"/>
          <p:cNvSpPr/>
          <p:nvPr/>
        </p:nvSpPr>
        <p:spPr>
          <a:xfrm>
            <a:off x="5806440" y="4151376"/>
            <a:ext cx="530352" cy="530352"/>
          </a:xfrm>
          <a:prstGeom prst="ellipse">
            <a:avLst/>
          </a:prstGeom>
          <a:solidFill>
            <a:srgbClr val="132740"/>
          </a:solidFill>
          <a:ln>
            <a:solidFill>
              <a:srgbClr val="1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06440" y="4160520"/>
            <a:ext cx="53035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4169663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32740"/>
                </a:solidFill>
                <a:latin typeface="Aptos"/>
              </a:defRPr>
            </a:pPr>
            <a:r>
              <a:t>Analytics dashboard for authorities</a:t>
            </a:r>
          </a:p>
        </p:txBody>
      </p:sp>
      <p:sp>
        <p:nvSpPr>
          <p:cNvPr id="21" name="Oval 20"/>
          <p:cNvSpPr/>
          <p:nvPr/>
        </p:nvSpPr>
        <p:spPr>
          <a:xfrm>
            <a:off x="5806440" y="4864608"/>
            <a:ext cx="530352" cy="530352"/>
          </a:xfrm>
          <a:prstGeom prst="ellipse">
            <a:avLst/>
          </a:prstGeom>
          <a:solidFill>
            <a:srgbClr val="132740"/>
          </a:solidFill>
          <a:ln>
            <a:solidFill>
              <a:srgbClr val="1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06440" y="4873752"/>
            <a:ext cx="53035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882896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32740"/>
                </a:solidFill>
                <a:latin typeface="Aptos"/>
              </a:defRPr>
            </a:pPr>
            <a:r>
              <a:t>Maps + real-time location services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5650992"/>
            <a:ext cx="5303520" cy="475488"/>
          </a:xfrm>
          <a:prstGeom prst="roundRect">
            <a:avLst/>
          </a:prstGeom>
          <a:solidFill>
            <a:srgbClr val="E0F3F1"/>
          </a:solidFill>
          <a:ln>
            <a:solidFill>
              <a:srgbClr val="E0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89320" y="5733288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32740"/>
                </a:solidFill>
                <a:latin typeface="Aptos"/>
              </a:defRPr>
            </a:pPr>
            <a:r>
              <a:rPr dirty="0"/>
              <a:t>THANK YOU 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556248"/>
            <a:ext cx="10881360" cy="13716"/>
          </a:xfrm>
          <a:prstGeom prst="rect">
            <a:avLst/>
          </a:prstGeom>
          <a:solidFill>
            <a:srgbClr val="DCE4E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6567398"/>
            <a:ext cx="594360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B6F80"/>
                </a:solidFill>
                <a:latin typeface="Aptos"/>
              </a:defRPr>
            </a:pPr>
            <a:r>
              <a:rPr dirty="0"/>
              <a:t>CIVICPULSE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65392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B6F80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451</Words>
  <Application>Microsoft Office PowerPoint</Application>
  <PresentationFormat>Widescreen</PresentationFormat>
  <Paragraphs>120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Chandana</dc:creator>
  <cp:keywords/>
  <dc:description>generated using python-pptx</dc:description>
  <cp:lastModifiedBy>Kothapalli Chandana</cp:lastModifiedBy>
  <cp:revision>3</cp:revision>
  <dcterms:created xsi:type="dcterms:W3CDTF">2013-01-27T09:14:16Z</dcterms:created>
  <dcterms:modified xsi:type="dcterms:W3CDTF">2026-08-31T14:24:01Z</dcterms:modified>
  <cp:category/>
</cp:coreProperties>
</file>